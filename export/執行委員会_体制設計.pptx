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3年生 執行委員会　体制設計【12名】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尾山台小学校PTA　令和8年度〜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320040"/>
          </a:xfrm>
          <a:prstGeom prst="rect">
            <a:avLst/>
          </a:prstGeom>
          <a:solidFill>
            <a:srgbClr val="3B6DD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体制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502920"/>
          </a:xfrm>
          <a:prstGeom prst="rect">
            <a:avLst/>
          </a:prstGeom>
          <a:solidFill>
            <a:srgbClr val="3B6DD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委員長（1名）</a:t>
            </a:r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　全体統括・PTA窓口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14800" cy="640080"/>
          </a:xfrm>
          <a:prstGeom prst="rect">
            <a:avLst/>
          </a:prstGeom>
          <a:solidFill>
            <a:srgbClr val="4A7AD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副委員長（1名）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委員長代理 ＋ 遊び場委員副委員長兼務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業務担当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1097280" cy="502920"/>
          </a:xfrm>
          <a:prstGeom prst="rect">
            <a:avLst/>
          </a:prstGeom>
          <a:solidFill>
            <a:srgbClr val="EEF1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" y="306324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5E"/>
                </a:solidFill>
              </a:rPr>
              <a:t>行事受付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2名 / 年数回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44752" y="3063240"/>
            <a:ext cx="1645920" cy="502920"/>
          </a:xfrm>
          <a:prstGeom prst="rect">
            <a:avLst/>
          </a:prstGeom>
          <a:solidFill>
            <a:srgbClr val="EEF1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72184" y="30632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5E"/>
                </a:solidFill>
              </a:rPr>
              <a:t>旗振り管理／通学路点検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2名 / 兼務しあう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63824" y="3063240"/>
            <a:ext cx="1225296" cy="5029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91256" y="306324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エコ委員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選出済み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611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※エコ委員は次年度より任意活動に移行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遊び場委員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914400" cy="502920"/>
          </a:xfrm>
          <a:prstGeom prst="rect">
            <a:avLst/>
          </a:prstGeom>
          <a:solidFill>
            <a:srgbClr val="F3E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1752" y="39776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FA0"/>
                </a:solidFill>
              </a:rPr>
              <a:t>委員長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1名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61872" y="3977640"/>
            <a:ext cx="1234440" cy="502920"/>
          </a:xfrm>
          <a:prstGeom prst="rect">
            <a:avLst/>
          </a:prstGeom>
          <a:solidFill>
            <a:srgbClr val="EDE5FF"/>
          </a:solidFill>
          <a:ln w="15240">
            <a:solidFill>
              <a:srgbClr val="6B4FA0"/>
            </a:solidFill>
            <a:prstDash val="dash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89304" y="39776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FA0"/>
                </a:solidFill>
              </a:rPr>
              <a:t>副委員長</a:t>
            </a:r>
            <a:endParaRPr lang="en-US" sz="850" dirty="0"/>
          </a:p>
          <a:p>
            <a:pPr indent="0" marL="0">
              <a:buNone/>
            </a:pPr>
            <a:r>
              <a:rPr lang="en-US" sz="750" b="1" dirty="0">
                <a:solidFill>
                  <a:srgbClr val="6B4FA0"/>
                </a:solidFill>
              </a:rPr>
              <a:t>※執行副委員長が兼務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9464" y="3977640"/>
            <a:ext cx="914400" cy="502920"/>
          </a:xfrm>
          <a:prstGeom prst="rect">
            <a:avLst/>
          </a:prstGeom>
          <a:solidFill>
            <a:srgbClr val="F3E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96896" y="39776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FA0"/>
                </a:solidFill>
              </a:rPr>
              <a:t>会計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2名（事務+監査）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57016" y="3977640"/>
            <a:ext cx="822960" cy="502920"/>
          </a:xfrm>
          <a:prstGeom prst="rect">
            <a:avLst/>
          </a:prstGeom>
          <a:solidFill>
            <a:srgbClr val="F3E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84448" y="397764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FA0"/>
                </a:solidFill>
              </a:rPr>
              <a:t>指導員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3名（シフト制）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3年生保護者74名中 12名（約16%）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73152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情報共有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4114800" cy="777240"/>
          </a:xfrm>
          <a:prstGeom prst="rect">
            <a:avLst/>
          </a:prstGeom>
          <a:solidFill>
            <a:srgbClr val="EEF1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371600"/>
            <a:ext cx="4114800" cy="25603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メイングループ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</a:rPr>
              <a:t>委員長・副委員長・業務担当4名・遊び場委員長＋PTA役員・支援Co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用途：全体連絡、行事受付・旗振り管理・通学路点検の業務連絡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880" y="2240280"/>
            <a:ext cx="4114800" cy="777240"/>
          </a:xfrm>
          <a:prstGeom prst="rect">
            <a:avLst/>
          </a:prstGeom>
          <a:solidFill>
            <a:srgbClr val="EEF1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240280"/>
            <a:ext cx="4114800" cy="25603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遊び場開放グループ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</a:rPr>
              <a:t>遊び場委員6名＋執行委員長・副委員長（遊び場副委員長兼務）＋PTA役員・支援Co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用途：シフト調整、天候中止判断、日誌共有、指導員連絡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54880" y="3246120"/>
            <a:ext cx="73152" cy="320040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執行委員 選出ルール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solidFill>
            <a:srgbClr val="F3E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4FA0"/>
                </a:solidFill>
              </a:rPr>
              <a:t>前提：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現3年生が6年時の卒対くじ引きで免除対象（最終決定権は6年時のクラス）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4069080"/>
            <a:ext cx="1965960" cy="475488"/>
          </a:xfrm>
          <a:prstGeom prst="rect">
            <a:avLst/>
          </a:prstGeom>
          <a:solidFill>
            <a:srgbClr val="EEF1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4069080"/>
            <a:ext cx="320040" cy="475488"/>
          </a:xfrm>
          <a:prstGeom prst="rect">
            <a:avLst/>
          </a:prstGeom>
          <a:solidFill>
            <a:srgbClr val="3B6DD6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40690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069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立候補を募集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当日＋後日Google Formsで受付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20840" y="40690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903720" y="4069080"/>
            <a:ext cx="1965960" cy="475488"/>
          </a:xfrm>
          <a:prstGeom prst="rect">
            <a:avLst/>
          </a:prstGeom>
          <a:solidFill>
            <a:srgbClr val="EEF1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03720" y="4069080"/>
            <a:ext cx="320040" cy="475488"/>
          </a:xfrm>
          <a:prstGeom prst="rect">
            <a:avLst/>
          </a:prstGeom>
          <a:solidFill>
            <a:srgbClr val="3B6DD6"/>
          </a:solidFill>
          <a:ln/>
        </p:spPr>
      </p:sp>
      <p:sp>
        <p:nvSpPr>
          <p:cNvPr id="50" name="Text 48"/>
          <p:cNvSpPr/>
          <p:nvPr/>
        </p:nvSpPr>
        <p:spPr>
          <a:xfrm>
            <a:off x="6903720" y="40690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4069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不足時はくじ引き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1,2年の委員・役員経験者は除外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4636008"/>
            <a:ext cx="4114800" cy="384048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92040" y="4636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くじはオンライン実施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</a:rPr>
              <a:t>（保護者会当日は説明＋立候補 → 後日フォームで追加立候補 → 不足分を抽選）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0" y="960120"/>
            <a:ext cx="0" cy="402336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3年生 執行委員会 体制設計</dc:title>
  <dc:subject>PptxGenJS Presentation</dc:subject>
  <dc:creator>尾山台小学校PTA</dc:creator>
  <cp:lastModifiedBy>尾山台小学校PTA</cp:lastModifiedBy>
  <cp:revision>1</cp:revision>
  <dcterms:created xsi:type="dcterms:W3CDTF">2026-04-10T01:09:44Z</dcterms:created>
  <dcterms:modified xsi:type="dcterms:W3CDTF">2026-04-10T01:09:44Z</dcterms:modified>
</cp:coreProperties>
</file>